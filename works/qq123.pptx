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0693400" cy="7556500"/>
  <p:notesSz cx="6858000" cy="9144000"/>
  <p:embeddedFontLst>
    <p:embeddedFont>
      <p:font typeface="Exo 2 Semi-Bold" charset="1" panose="00000700000000000000"/>
      <p:regular r:id="rId8"/>
    </p:embeddedFont>
    <p:embeddedFont>
      <p:font typeface="Exo 2 Medium" charset="1" panose="000006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6988526" y="4719498"/>
            <a:ext cx="3703474" cy="3859227"/>
            <a:chOff x="0" y="0"/>
            <a:chExt cx="4445000" cy="462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410668"/>
              <a:ext cx="4445000" cy="2218690"/>
            </a:xfrm>
            <a:custGeom>
              <a:avLst/>
              <a:gdLst/>
              <a:ahLst/>
              <a:cxnLst/>
              <a:rect r="r" b="b" t="t" l="l"/>
              <a:pathLst>
                <a:path h="2218690" w="4445000">
                  <a:moveTo>
                    <a:pt x="4445000" y="1450340"/>
                  </a:moveTo>
                  <a:lnTo>
                    <a:pt x="4445000" y="2218690"/>
                  </a:lnTo>
                  <a:lnTo>
                    <a:pt x="2222500" y="768350"/>
                  </a:lnTo>
                  <a:lnTo>
                    <a:pt x="0" y="2218690"/>
                  </a:lnTo>
                  <a:lnTo>
                    <a:pt x="0" y="1450340"/>
                  </a:lnTo>
                  <a:lnTo>
                    <a:pt x="2222500" y="0"/>
                  </a:lnTo>
                  <a:close/>
                </a:path>
              </a:pathLst>
            </a:custGeom>
            <a:solidFill>
              <a:srgbClr val="C6C5A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3861008"/>
            </a:xfrm>
            <a:custGeom>
              <a:avLst/>
              <a:gdLst/>
              <a:ahLst/>
              <a:cxnLst/>
              <a:rect r="r" b="b" t="t" l="l"/>
              <a:pathLst>
                <a:path h="3861008" w="4445000">
                  <a:moveTo>
                    <a:pt x="4445000" y="0"/>
                  </a:moveTo>
                  <a:lnTo>
                    <a:pt x="4445000" y="3861008"/>
                  </a:lnTo>
                  <a:lnTo>
                    <a:pt x="2222500" y="2410668"/>
                  </a:lnTo>
                  <a:lnTo>
                    <a:pt x="0" y="3861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96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-447707"/>
            <a:ext cx="3722683" cy="2611318"/>
            <a:chOff x="0" y="0"/>
            <a:chExt cx="4445000" cy="31162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897568"/>
              <a:ext cx="4445000" cy="2218690"/>
            </a:xfrm>
            <a:custGeom>
              <a:avLst/>
              <a:gdLst/>
              <a:ahLst/>
              <a:cxnLst/>
              <a:rect r="r" b="b" t="t" l="l"/>
              <a:pathLst>
                <a:path h="2218690" w="4445000">
                  <a:moveTo>
                    <a:pt x="4445000" y="1450340"/>
                  </a:moveTo>
                  <a:lnTo>
                    <a:pt x="4445000" y="2218690"/>
                  </a:lnTo>
                  <a:lnTo>
                    <a:pt x="2222500" y="768350"/>
                  </a:lnTo>
                  <a:lnTo>
                    <a:pt x="0" y="2218690"/>
                  </a:lnTo>
                  <a:lnTo>
                    <a:pt x="0" y="1450340"/>
                  </a:lnTo>
                  <a:lnTo>
                    <a:pt x="2222500" y="0"/>
                  </a:lnTo>
                  <a:close/>
                </a:path>
              </a:pathLst>
            </a:custGeom>
            <a:solidFill>
              <a:srgbClr val="C6C5A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2347908"/>
            </a:xfrm>
            <a:custGeom>
              <a:avLst/>
              <a:gdLst/>
              <a:ahLst/>
              <a:cxnLst/>
              <a:rect r="r" b="b" t="t" l="l"/>
              <a:pathLst>
                <a:path h="2347908" w="4445000">
                  <a:moveTo>
                    <a:pt x="4445000" y="0"/>
                  </a:moveTo>
                  <a:lnTo>
                    <a:pt x="4445000" y="2347908"/>
                  </a:lnTo>
                  <a:lnTo>
                    <a:pt x="2222500" y="897568"/>
                  </a:lnTo>
                  <a:lnTo>
                    <a:pt x="0" y="2347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964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920034" y="1892857"/>
            <a:ext cx="2851931" cy="1887143"/>
          </a:xfrm>
          <a:custGeom>
            <a:avLst/>
            <a:gdLst/>
            <a:ahLst/>
            <a:cxnLst/>
            <a:rect r="r" b="b" t="t" l="l"/>
            <a:pathLst>
              <a:path h="1887143" w="2851931">
                <a:moveTo>
                  <a:pt x="0" y="0"/>
                </a:moveTo>
                <a:lnTo>
                  <a:pt x="2851932" y="0"/>
                </a:lnTo>
                <a:lnTo>
                  <a:pt x="2851932" y="1887143"/>
                </a:lnTo>
                <a:lnTo>
                  <a:pt x="0" y="1887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" t="-2404" r="-3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3389" y="2405114"/>
            <a:ext cx="1545590" cy="1545590"/>
          </a:xfrm>
          <a:custGeom>
            <a:avLst/>
            <a:gdLst/>
            <a:ahLst/>
            <a:cxnLst/>
            <a:rect r="r" b="b" t="t" l="l"/>
            <a:pathLst>
              <a:path h="1545590" w="1545590">
                <a:moveTo>
                  <a:pt x="0" y="0"/>
                </a:moveTo>
                <a:lnTo>
                  <a:pt x="1545590" y="0"/>
                </a:lnTo>
                <a:lnTo>
                  <a:pt x="1545590" y="1545590"/>
                </a:lnTo>
                <a:lnTo>
                  <a:pt x="0" y="1545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65659" y="0"/>
            <a:ext cx="3926341" cy="2070099"/>
          </a:xfrm>
          <a:custGeom>
            <a:avLst/>
            <a:gdLst/>
            <a:ahLst/>
            <a:cxnLst/>
            <a:rect r="r" b="b" t="t" l="l"/>
            <a:pathLst>
              <a:path h="2070099" w="3926341">
                <a:moveTo>
                  <a:pt x="0" y="0"/>
                </a:moveTo>
                <a:lnTo>
                  <a:pt x="3926341" y="0"/>
                </a:lnTo>
                <a:lnTo>
                  <a:pt x="3926341" y="2070099"/>
                </a:lnTo>
                <a:lnTo>
                  <a:pt x="0" y="2070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6" r="0" b="-6404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969140" y="2405114"/>
            <a:ext cx="3722860" cy="2591640"/>
            <a:chOff x="0" y="0"/>
            <a:chExt cx="4963813" cy="34555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4963813" cy="326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Мета:</a:t>
              </a:r>
            </a:p>
            <a:p>
              <a:pPr algn="ctr">
                <a:lnSpc>
                  <a:spcPts val="1312"/>
                </a:lnSpc>
              </a:pPr>
              <a:r>
                <a:rPr lang="en-US" sz="1250" b="true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Навчитися використовувати контури та шари у</a:t>
              </a: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 CorelDRAW для створення складних  Теорія:</a:t>
              </a:r>
            </a:p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Контури:</a:t>
              </a:r>
            </a:p>
            <a:p>
              <a:pPr algn="l" marL="269876" indent="-134938" lvl="1">
                <a:lnSpc>
                  <a:spcPts val="1312"/>
                </a:lnSpc>
                <a:buFont typeface="Arial"/>
                <a:buChar char="•"/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визначають форму об’єктів;</a:t>
              </a:r>
            </a:p>
            <a:p>
              <a:pPr algn="l" marL="269876" indent="-134938" lvl="1">
                <a:lnSpc>
                  <a:spcPts val="1312"/>
                </a:lnSpc>
                <a:buFont typeface="Arial"/>
                <a:buChar char="•"/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редагуються вузлами;</a:t>
              </a:r>
            </a:p>
            <a:p>
              <a:pPr algn="l" marL="269876" indent="-134938" lvl="1">
                <a:lnSpc>
                  <a:spcPts val="1312"/>
                </a:lnSpc>
                <a:buFont typeface="Arial"/>
                <a:buChar char="•"/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дозволяють створювати складні фігури.</a:t>
              </a:r>
            </a:p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 </a:t>
              </a: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Інструменти:</a:t>
              </a:r>
            </a:p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Shape Tool, Pen Tool, Bezier Tool</a:t>
              </a:r>
            </a:p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Шари:</a:t>
              </a:r>
            </a:p>
            <a:p>
              <a:pPr algn="l" marL="269876" indent="-134938" lvl="1">
                <a:lnSpc>
                  <a:spcPts val="1312"/>
                </a:lnSpc>
                <a:buFont typeface="Arial"/>
                <a:buChar char="•"/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допомагають структурувати проєкт;</a:t>
              </a:r>
            </a:p>
            <a:p>
              <a:pPr algn="l" marL="269876" indent="-134938" lvl="1">
                <a:lnSpc>
                  <a:spcPts val="1312"/>
                </a:lnSpc>
                <a:buFont typeface="Arial"/>
                <a:buChar char="•"/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дозволяють керувати об’єктами незалежно.</a:t>
              </a:r>
            </a:p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Інструменти:</a:t>
              </a:r>
            </a:p>
            <a:p>
              <a:pPr algn="ctr">
                <a:lnSpc>
                  <a:spcPts val="1312"/>
                </a:lnSpc>
              </a:pPr>
              <a:r>
                <a:rPr lang="en-US" b="true" sz="1250">
                  <a:solidFill>
                    <a:srgbClr val="000000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Object Manager, Layer Options</a:t>
              </a:r>
            </a:p>
            <a:p>
              <a:pPr algn="ctr">
                <a:lnSpc>
                  <a:spcPts val="1312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308932"/>
              <a:ext cx="4963813" cy="13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71773" y="5026187"/>
            <a:ext cx="2408824" cy="206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250" b="true">
                <a:solidFill>
                  <a:srgbClr val="3A3139"/>
                </a:solidFill>
                <a:latin typeface="Exo 2 Medium"/>
                <a:ea typeface="Exo 2 Medium"/>
                <a:cs typeface="Exo 2 Medium"/>
                <a:sym typeface="Exo 2 Medium"/>
              </a:rPr>
              <a:t>CorelDRAW — професійне програмне забезпечення для створення векторної графіки.</a:t>
            </a:r>
          </a:p>
          <a:p>
            <a:pPr algn="l">
              <a:lnSpc>
                <a:spcPts val="1312"/>
              </a:lnSpc>
            </a:pPr>
            <a:r>
              <a:rPr lang="en-US" sz="1250" b="true">
                <a:solidFill>
                  <a:srgbClr val="3A3139"/>
                </a:solidFill>
                <a:latin typeface="Exo 2 Medium"/>
                <a:ea typeface="Exo 2 Medium"/>
                <a:cs typeface="Exo 2 Medium"/>
                <a:sym typeface="Exo 2 Medium"/>
              </a:rPr>
              <a:t> Вміння працювати з контурами та шарами дає можливість:</a:t>
            </a:r>
          </a:p>
          <a:p>
            <a:pPr algn="l" marL="269916" indent="-134958" lvl="1">
              <a:lnSpc>
                <a:spcPts val="1312"/>
              </a:lnSpc>
              <a:buFont typeface="Arial"/>
              <a:buChar char="•"/>
            </a:pPr>
            <a:r>
              <a:rPr lang="en-US" b="true" sz="1250">
                <a:solidFill>
                  <a:srgbClr val="3A3139"/>
                </a:solidFill>
                <a:latin typeface="Exo 2 Medium"/>
                <a:ea typeface="Exo 2 Medium"/>
                <a:cs typeface="Exo 2 Medium"/>
                <a:sym typeface="Exo 2 Medium"/>
              </a:rPr>
              <a:t>створювати складні й точні ілюстрації;</a:t>
            </a:r>
          </a:p>
          <a:p>
            <a:pPr algn="l" marL="269916" indent="-134958" lvl="1">
              <a:lnSpc>
                <a:spcPts val="1312"/>
              </a:lnSpc>
              <a:buFont typeface="Arial"/>
              <a:buChar char="•"/>
            </a:pPr>
            <a:r>
              <a:rPr lang="en-US" b="true" sz="1250">
                <a:solidFill>
                  <a:srgbClr val="3A3139"/>
                </a:solidFill>
                <a:latin typeface="Exo 2 Medium"/>
                <a:ea typeface="Exo 2 Medium"/>
                <a:cs typeface="Exo 2 Medium"/>
                <a:sym typeface="Exo 2 Medium"/>
              </a:rPr>
              <a:t>зручно керувати елементами;</a:t>
            </a:r>
          </a:p>
          <a:p>
            <a:pPr algn="l" marL="269916" indent="-134958" lvl="1">
              <a:lnSpc>
                <a:spcPts val="1312"/>
              </a:lnSpc>
              <a:buFont typeface="Arial"/>
              <a:buChar char="•"/>
            </a:pPr>
            <a:r>
              <a:rPr lang="en-US" b="true" sz="1250">
                <a:solidFill>
                  <a:srgbClr val="3A3139"/>
                </a:solidFill>
                <a:latin typeface="Exo 2 Medium"/>
                <a:ea typeface="Exo 2 Medium"/>
                <a:cs typeface="Exo 2 Medium"/>
                <a:sym typeface="Exo 2 Medium"/>
              </a:rPr>
              <a:t>підготувати макет для друку чи анімації.</a:t>
            </a:r>
          </a:p>
          <a:p>
            <a:pPr algn="l">
              <a:lnSpc>
                <a:spcPts val="1312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127658" y="857952"/>
            <a:ext cx="2436685" cy="662514"/>
            <a:chOff x="0" y="0"/>
            <a:chExt cx="3248913" cy="88335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575"/>
              <a:ext cx="3248913" cy="580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614" b="true">
                  <a:solidFill>
                    <a:srgbClr val="879642"/>
                  </a:solidFill>
                  <a:latin typeface="Exo 2 Semi-Bold"/>
                  <a:ea typeface="Exo 2 Semi-Bold"/>
                  <a:cs typeface="Exo 2 Semi-Bold"/>
                  <a:sym typeface="Exo 2 Semi-Bold"/>
                </a:rPr>
                <a:t>«Робота з контурами та шарами у CorelDRAW»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61637"/>
              <a:ext cx="3248913" cy="221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7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84471" y="7233077"/>
            <a:ext cx="1123057" cy="1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Левонтюк Кіріл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0" y="-453768"/>
            <a:ext cx="3647643" cy="8092667"/>
            <a:chOff x="0" y="0"/>
            <a:chExt cx="4863524" cy="1079022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0636" t="0" r="30636" b="14082"/>
            <a:stretch>
              <a:fillRect/>
            </a:stretch>
          </p:blipFill>
          <p:spPr>
            <a:xfrm flipH="false" flipV="false">
              <a:off x="0" y="0"/>
              <a:ext cx="4863524" cy="1079022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-10800000">
            <a:off x="-24348" y="5372481"/>
            <a:ext cx="3749813" cy="2759792"/>
            <a:chOff x="0" y="0"/>
            <a:chExt cx="4445000" cy="3269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050924"/>
              <a:ext cx="4445000" cy="2218690"/>
            </a:xfrm>
            <a:custGeom>
              <a:avLst/>
              <a:gdLst/>
              <a:ahLst/>
              <a:cxnLst/>
              <a:rect r="r" b="b" t="t" l="l"/>
              <a:pathLst>
                <a:path h="2218690" w="4445000">
                  <a:moveTo>
                    <a:pt x="4445000" y="1450340"/>
                  </a:moveTo>
                  <a:lnTo>
                    <a:pt x="4445000" y="2218690"/>
                  </a:lnTo>
                  <a:lnTo>
                    <a:pt x="2222500" y="768350"/>
                  </a:lnTo>
                  <a:lnTo>
                    <a:pt x="0" y="2218690"/>
                  </a:lnTo>
                  <a:lnTo>
                    <a:pt x="0" y="1450340"/>
                  </a:lnTo>
                  <a:lnTo>
                    <a:pt x="2222500" y="0"/>
                  </a:lnTo>
                  <a:close/>
                </a:path>
              </a:pathLst>
            </a:custGeom>
            <a:solidFill>
              <a:srgbClr val="C6C5A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2501264"/>
            </a:xfrm>
            <a:custGeom>
              <a:avLst/>
              <a:gdLst/>
              <a:ahLst/>
              <a:cxnLst/>
              <a:rect r="r" b="b" t="t" l="l"/>
              <a:pathLst>
                <a:path h="2501264" w="4445000">
                  <a:moveTo>
                    <a:pt x="4445000" y="0"/>
                  </a:moveTo>
                  <a:lnTo>
                    <a:pt x="4445000" y="2501264"/>
                  </a:lnTo>
                  <a:lnTo>
                    <a:pt x="2222500" y="1050924"/>
                  </a:lnTo>
                  <a:lnTo>
                    <a:pt x="0" y="2501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964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961421" y="-1451187"/>
            <a:ext cx="3695298" cy="3721199"/>
            <a:chOff x="0" y="0"/>
            <a:chExt cx="4445000" cy="4473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254972"/>
              <a:ext cx="4445000" cy="2218690"/>
            </a:xfrm>
            <a:custGeom>
              <a:avLst/>
              <a:gdLst/>
              <a:ahLst/>
              <a:cxnLst/>
              <a:rect r="r" b="b" t="t" l="l"/>
              <a:pathLst>
                <a:path h="2218690" w="4445000">
                  <a:moveTo>
                    <a:pt x="4445000" y="1450340"/>
                  </a:moveTo>
                  <a:lnTo>
                    <a:pt x="4445000" y="2218690"/>
                  </a:lnTo>
                  <a:lnTo>
                    <a:pt x="2222500" y="768350"/>
                  </a:lnTo>
                  <a:lnTo>
                    <a:pt x="0" y="2218690"/>
                  </a:lnTo>
                  <a:lnTo>
                    <a:pt x="0" y="1450340"/>
                  </a:lnTo>
                  <a:lnTo>
                    <a:pt x="2222500" y="0"/>
                  </a:lnTo>
                  <a:close/>
                </a:path>
              </a:pathLst>
            </a:custGeom>
            <a:solidFill>
              <a:srgbClr val="C6C5A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3705312"/>
            </a:xfrm>
            <a:custGeom>
              <a:avLst/>
              <a:gdLst/>
              <a:ahLst/>
              <a:cxnLst/>
              <a:rect r="r" b="b" t="t" l="l"/>
              <a:pathLst>
                <a:path h="3705312" w="4445000">
                  <a:moveTo>
                    <a:pt x="4445000" y="0"/>
                  </a:moveTo>
                  <a:lnTo>
                    <a:pt x="4445000" y="3705312"/>
                  </a:lnTo>
                  <a:lnTo>
                    <a:pt x="2222500" y="2254972"/>
                  </a:lnTo>
                  <a:lnTo>
                    <a:pt x="0" y="37053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9642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785505" y="1867793"/>
            <a:ext cx="2047129" cy="2047129"/>
          </a:xfrm>
          <a:custGeom>
            <a:avLst/>
            <a:gdLst/>
            <a:ahLst/>
            <a:cxnLst/>
            <a:rect r="r" b="b" t="t" l="l"/>
            <a:pathLst>
              <a:path h="2047129" w="2047129">
                <a:moveTo>
                  <a:pt x="0" y="0"/>
                </a:moveTo>
                <a:lnTo>
                  <a:pt x="2047130" y="0"/>
                </a:lnTo>
                <a:lnTo>
                  <a:pt x="2047130" y="2047129"/>
                </a:lnTo>
                <a:lnTo>
                  <a:pt x="0" y="2047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22364" y="0"/>
            <a:ext cx="3239058" cy="2594128"/>
          </a:xfrm>
          <a:custGeom>
            <a:avLst/>
            <a:gdLst/>
            <a:ahLst/>
            <a:cxnLst/>
            <a:rect r="r" b="b" t="t" l="l"/>
            <a:pathLst>
              <a:path h="2594128" w="3239058">
                <a:moveTo>
                  <a:pt x="0" y="0"/>
                </a:moveTo>
                <a:lnTo>
                  <a:pt x="3239057" y="0"/>
                </a:lnTo>
                <a:lnTo>
                  <a:pt x="3239057" y="2594128"/>
                </a:lnTo>
                <a:lnTo>
                  <a:pt x="0" y="2594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58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2820" y="1751679"/>
            <a:ext cx="3644269" cy="294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З</a:t>
            </a: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авдання:</a:t>
            </a:r>
          </a:p>
          <a:p>
            <a:pPr algn="ctr">
              <a:lnSpc>
                <a:spcPts val="1660"/>
              </a:lnSpc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Створити графічну композицію (логотип, постер тощо), використовуючи: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багаторівневі шари;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редаговані контури;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ефекти обводки;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операції Weld, Trim, Intersect.</a:t>
            </a:r>
          </a:p>
          <a:p>
            <a:pPr algn="ctr">
              <a:lnSpc>
                <a:spcPts val="1660"/>
              </a:lnSpc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 </a:t>
            </a: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Результат: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Файл .CDR;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Експорт у .PDF / .SVG;</a:t>
            </a:r>
          </a:p>
          <a:p>
            <a:pPr algn="l" marL="341333" indent="-170667" lvl="1">
              <a:lnSpc>
                <a:spcPts val="1660"/>
              </a:lnSpc>
              <a:buFont typeface="Arial"/>
              <a:buChar char="•"/>
            </a:pPr>
            <a:r>
              <a:rPr lang="en-US" b="true" sz="1580">
                <a:solidFill>
                  <a:srgbClr val="FFFFFF"/>
                </a:solidFill>
                <a:latin typeface="Exo 2 Medium"/>
                <a:ea typeface="Exo 2 Medium"/>
                <a:cs typeface="Exo 2 Medium"/>
                <a:sym typeface="Exo 2 Medium"/>
              </a:rPr>
              <a:t>Скриншоти або відео процесу (за бажанням).</a:t>
            </a:r>
          </a:p>
          <a:p>
            <a:pPr algn="ctr">
              <a:lnSpc>
                <a:spcPts val="166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204616" y="3436726"/>
            <a:ext cx="2706188" cy="161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540" b="true">
                <a:solidFill>
                  <a:srgbClr val="879642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CorelDRAW — це інструмент, з яким графіка стає зрозумілою і доступною навіть новачку, а для досвідченого користувача — це надійний помічник у реалізації найскладніших задумів.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76394" y="4463796"/>
            <a:ext cx="2465352" cy="182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400">
                <a:solidFill>
                  <a:srgbClr val="879642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Ви навчитесь:</a:t>
            </a:r>
          </a:p>
          <a:p>
            <a:pPr algn="l" marL="302261" indent="-151130" lvl="1">
              <a:lnSpc>
                <a:spcPts val="1470"/>
              </a:lnSpc>
              <a:buFont typeface="Arial"/>
              <a:buChar char="•"/>
            </a:pPr>
            <a:r>
              <a:rPr lang="en-US" b="true" sz="1400">
                <a:solidFill>
                  <a:srgbClr val="879642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працювати з вузлами, кривими, обводками;</a:t>
            </a:r>
          </a:p>
          <a:p>
            <a:pPr algn="l" marL="302261" indent="-151130" lvl="1">
              <a:lnSpc>
                <a:spcPts val="1470"/>
              </a:lnSpc>
              <a:buFont typeface="Arial"/>
              <a:buChar char="•"/>
            </a:pPr>
            <a:r>
              <a:rPr lang="en-US" b="true" sz="1400">
                <a:solidFill>
                  <a:srgbClr val="879642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керувати шарами;</a:t>
            </a:r>
          </a:p>
          <a:p>
            <a:pPr algn="l" marL="302261" indent="-151130" lvl="1">
              <a:lnSpc>
                <a:spcPts val="1470"/>
              </a:lnSpc>
              <a:buFont typeface="Arial"/>
              <a:buChar char="•"/>
            </a:pPr>
            <a:r>
              <a:rPr lang="en-US" b="true" sz="1400">
                <a:solidFill>
                  <a:srgbClr val="879642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поєднувати форми (операції з об'єктами);</a:t>
            </a:r>
          </a:p>
          <a:p>
            <a:pPr algn="l" marL="302261" indent="-151130" lvl="1">
              <a:lnSpc>
                <a:spcPts val="1470"/>
              </a:lnSpc>
              <a:buFont typeface="Arial"/>
              <a:buChar char="•"/>
            </a:pPr>
            <a:r>
              <a:rPr lang="en-US" b="true" sz="1400">
                <a:solidFill>
                  <a:srgbClr val="879642"/>
                </a:solidFill>
                <a:latin typeface="Exo 2 Semi-Bold"/>
                <a:ea typeface="Exo 2 Semi-Bold"/>
                <a:cs typeface="Exo 2 Semi-Bold"/>
                <a:sym typeface="Exo 2 Semi-Bold"/>
              </a:rPr>
              <a:t>створювати чисту, готову до друку векторну графіку.</a:t>
            </a:r>
          </a:p>
          <a:p>
            <a:pPr algn="just">
              <a:lnSpc>
                <a:spcPts val="147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204616" y="6126047"/>
            <a:ext cx="2667000" cy="82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b="true" sz="1262">
                <a:solidFill>
                  <a:srgbClr val="000000"/>
                </a:solidFill>
                <a:latin typeface="Exo 2 Medium"/>
                <a:ea typeface="Exo 2 Medium"/>
                <a:cs typeface="Exo 2 Medium"/>
                <a:sym typeface="Exo 2 Medium"/>
              </a:rPr>
              <a:t>Векторна графіка у CorelDRAW</a:t>
            </a:r>
          </a:p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b="true" sz="1262">
                <a:solidFill>
                  <a:srgbClr val="000000"/>
                </a:solidFill>
                <a:latin typeface="Exo 2 Medium"/>
                <a:ea typeface="Exo 2 Medium"/>
                <a:cs typeface="Exo 2 Medium"/>
                <a:sym typeface="Exo 2 Medium"/>
              </a:rPr>
              <a:t> зберігає чіткість при будь-якому</a:t>
            </a:r>
          </a:p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b="true" sz="1262">
                <a:solidFill>
                  <a:srgbClr val="000000"/>
                </a:solidFill>
                <a:latin typeface="Exo 2 Medium"/>
                <a:ea typeface="Exo 2 Medium"/>
                <a:cs typeface="Exo 2 Medium"/>
                <a:sym typeface="Exo 2 Medium"/>
              </a:rPr>
              <a:t> масштабі — саме тому її обирають</a:t>
            </a:r>
          </a:p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b="true" sz="1262">
                <a:solidFill>
                  <a:srgbClr val="000000"/>
                </a:solidFill>
                <a:latin typeface="Exo 2 Medium"/>
                <a:ea typeface="Exo 2 Medium"/>
                <a:cs typeface="Exo 2 Medium"/>
                <a:sym typeface="Exo 2 Medium"/>
              </a:rPr>
              <a:t> для створення логотипів, вивісок, </a:t>
            </a:r>
          </a:p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b="true" sz="1262">
                <a:solidFill>
                  <a:srgbClr val="000000"/>
                </a:solidFill>
                <a:latin typeface="Exo 2 Medium"/>
                <a:ea typeface="Exo 2 Medium"/>
                <a:cs typeface="Exo 2 Medium"/>
                <a:sym typeface="Exo 2 Medium"/>
              </a:rPr>
              <a:t>схем і макетів.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DAGrHOgNGLU</dc:identifier>
  <dcterms:modified xsi:type="dcterms:W3CDTF">2011-08-01T06:04:30Z</dcterms:modified>
  <cp:revision>1</cp:revision>
  <dc:title>Зеленый и Белый Растения Наука Буклет</dc:title>
</cp:coreProperties>
</file>